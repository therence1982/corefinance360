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4532D">
              <a:alpha val="12000"/>
            </a:srgbClr>
          </a:solidFill>
          <a:ln w="12700">
            <a:solidFill>
              <a:srgbClr val="14532D">
                <a:alpha val="12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20040" y="18288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Test 05 / 10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20040" y="594360"/>
            <a:ext cx="85039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Memo &amp; Level 1 Approval</a:t>
            </a:r>
            <a:endParaRPr lang="en-US" sz="3400" dirty="0"/>
          </a:p>
        </p:txBody>
      </p:sp>
      <p:sp>
        <p:nvSpPr>
          <p:cNvPr id="6" name="Shape 4"/>
          <p:cNvSpPr/>
          <p:nvPr/>
        </p:nvSpPr>
        <p:spPr>
          <a:xfrm>
            <a:off x="320040" y="1691640"/>
            <a:ext cx="1645920" cy="54864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82880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CDD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👤  Credit Officer → Senior Credit Officer (Ngozi Adeyemi)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20040" y="224028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AAAA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🌍  Ivory Coast 🇨🇮  ·  💱  XOF — CFA Franc BCEAO  ·  🏦  Kouyaté Agro Processing SARL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320040" y="2606040"/>
            <a:ext cx="8503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888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Loan Type: Working Capital  ·  Amount: $45,000  ·  Approval: Level 1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Roles — One Handoff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writes · Senior Credit Officer approves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1051560"/>
            <a:ext cx="41605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28600" y="1051560"/>
            <a:ext cx="64008" cy="33832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65760" y="1143000"/>
            <a:ext cx="3931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📝  Credit Officer (Wanjiru Kamau)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65760" y="1481328"/>
            <a:ext cx="39319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Writes the Credit Memo — formal credit analysis: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Borrower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2. Credit Request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3. Risk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4. Collateral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5. Covenant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6. Document Summary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7. Final Justification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Sets Recommendation = Approve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Submits → memo LOCKS immediately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526280" y="1051560"/>
            <a:ext cx="4389120" cy="3383280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526280" y="1051560"/>
            <a:ext cx="64008" cy="338328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663440" y="1143000"/>
            <a:ext cx="4160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✅  Senior Credit Officer (Ngozi Adeyemi)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663440" y="1481328"/>
            <a:ext cx="4160520" cy="285292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the locked Credit Memo — read-only.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deals ≤ $500K, Committee = False: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Routes to Level 1 — Ngozi Adeyemi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Approves → Memo confirmed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Then FP submitted for approval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 Also routes to Level 1 for FP sign-off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deal: $45,000 → Level 1 routing</a:t>
            </a:r>
            <a:endParaRPr lang="en-US" sz="9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Step-by-Step: Credit Memo &amp; Approval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Officer + Senior Credit Officer — Ivory Coast (XOF)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28600" y="86868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685800" y="87782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Try to advance FP to Credit Review without Credit Memo → Save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251960" y="90525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BLOCKED: A Credit Memo must be created and linked first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28600" y="1490472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85800" y="1499616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Create Credit Memo — fill all 7 sections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Recommendation = Approve, Status = Submitted → Submit for Approval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251960" y="1527048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Memo LOCKS immediately. Email sent to Ngozi Adeyemi (Level 1).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228600" y="2112264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85800" y="2121408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 FP Stage to Credit Review → Save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251960" y="2148840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2 tasks auto-created: Credit Review (3d), Risk Assessment (5d). Email alert sent.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228600" y="2734056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85800" y="2743200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 opens Approval Request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Reviews locked Credit Memo — read-only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251960" y="2770632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All 7 sections visible. Cannot edit.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28600" y="3355848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685800" y="3364992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clicks Approve with comment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251960" y="3392424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Memo approved. FP approval process now available to submit.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28600" y="3977640"/>
            <a:ext cx="3840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</a:t>
            </a:r>
            <a:endParaRPr lang="en-US" sz="1400" dirty="0"/>
          </a:p>
        </p:txBody>
      </p:sp>
      <p:sp>
        <p:nvSpPr>
          <p:cNvPr id="35" name="Text 33"/>
          <p:cNvSpPr/>
          <p:nvPr/>
        </p:nvSpPr>
        <p:spPr>
          <a:xfrm>
            <a:off x="685800" y="3986784"/>
            <a:ext cx="34747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Submit FP for approval — verify routing for $45K deal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solidFill>
            <a:srgbClr val="DCFCE7"/>
          </a:solidFill>
          <a:ln w="12700">
            <a:solidFill>
              <a:srgbClr val="DCFCE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251960" y="4014216"/>
            <a:ext cx="4389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14532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  Routes to Level 1 — Ngozi (Amount ≤ $500K, Committee = False). Correct.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1F5F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274320" y="73152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Routing Logic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274320" y="530352"/>
            <a:ext cx="7772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 automatically routes to the correct level based on deal size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0" y="4663440"/>
            <a:ext cx="9144000" cy="480060"/>
          </a:xfrm>
          <a:prstGeom prst="rect">
            <a:avLst/>
          </a:prstGeom>
          <a:solidFill>
            <a:srgbClr val="070F1E"/>
          </a:solidFill>
          <a:ln w="12700">
            <a:solidFill>
              <a:srgbClr val="070F1E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47091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CoreFinance360  ·  CF360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772400" y="4709160"/>
            <a:ext cx="1188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555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/ 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36576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≤ $500K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= False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36576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4785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365760" y="2331720"/>
            <a:ext cx="2651760" cy="109728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6576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1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Ngozi Adeyemi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Senior Credit Officer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24612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4612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$500K – $2M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= False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24612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1A56D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3246120" y="2331720"/>
            <a:ext cx="2651760" cy="1097280"/>
          </a:xfrm>
          <a:prstGeom prst="rect">
            <a:avLst/>
          </a:prstGeom>
          <a:solidFill>
            <a:srgbClr val="1A56DB"/>
          </a:solidFill>
          <a:ln w="12700">
            <a:solidFill>
              <a:srgbClr val="1A56DB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4612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2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Kwame Asante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Risk Officer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6126480" y="1051560"/>
            <a:ext cx="2651760" cy="822960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26480" y="1051560"/>
            <a:ext cx="265176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&gt; $2M or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Committee = True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6126480" y="19385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↓</a:t>
            </a:r>
            <a:endParaRPr lang="en-US" sz="1800" dirty="0"/>
          </a:p>
        </p:txBody>
      </p:sp>
      <p:sp>
        <p:nvSpPr>
          <p:cNvPr id="21" name="Shape 19"/>
          <p:cNvSpPr/>
          <p:nvPr/>
        </p:nvSpPr>
        <p:spPr>
          <a:xfrm>
            <a:off x="6126480" y="2331720"/>
            <a:ext cx="2651760" cy="1097280"/>
          </a:xfrm>
          <a:prstGeom prst="rect">
            <a:avLst/>
          </a:prstGeom>
          <a:solidFill>
            <a:srgbClr val="0D1F3C"/>
          </a:solidFill>
          <a:ln w="12700">
            <a:solidFill>
              <a:srgbClr val="0D1F3C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26480" y="2331720"/>
            <a:ext cx="26517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Level 3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Fatima Diallo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Chief Financial Officer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228600" y="3611880"/>
            <a:ext cx="8686800" cy="658368"/>
          </a:xfrm>
          <a:prstGeom prst="rect">
            <a:avLst/>
          </a:prstGeom>
          <a:solidFill>
            <a:srgbClr val="FFFFFF"/>
          </a:solidFill>
          <a:ln w="6350">
            <a:solidFill>
              <a:srgbClr val="E2E8F0"/>
            </a:solidFill>
            <a:prstDash val="solid"/>
          </a:ln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228600" y="3611880"/>
            <a:ext cx="64008" cy="658368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3703320"/>
            <a:ext cx="8458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F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This test: $45,000 → Level 1 (Ngozi Adeyemi)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365760" y="4041648"/>
            <a:ext cx="8458200" cy="1280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33415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Amount below $500K + Committee Deal = False. System routes directly to Level 1. No manual routing decision — the approval process handles it automatically.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4572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Credit Memo &amp; Level 1 Approval — Complete</a:t>
            </a:r>
            <a:endParaRPr lang="en-US" sz="2200" dirty="0"/>
          </a:p>
        </p:txBody>
      </p:sp>
      <p:sp>
        <p:nvSpPr>
          <p:cNvPr id="5" name="Shape 3"/>
          <p:cNvSpPr/>
          <p:nvPr/>
        </p:nvSpPr>
        <p:spPr>
          <a:xfrm>
            <a:off x="3200400" y="1143000"/>
            <a:ext cx="2743200" cy="0"/>
          </a:xfrm>
          <a:prstGeom prst="line">
            <a:avLst/>
          </a:prstGeom>
          <a:noFill/>
          <a:ln w="25400">
            <a:solidFill>
              <a:srgbClr val="14532D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2588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2588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Stage gate enforced — Credit Review blocked without Credit Memo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57200" y="192024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68680" y="192024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Memo locks on submission — no edits after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51460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68680" y="251460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Approval routing automatic based on deal size and committee flag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solidFill>
            <a:srgbClr val="14532D"/>
          </a:solidFill>
          <a:ln w="12700">
            <a:solidFill>
              <a:srgbClr val="14532D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7200" y="3108960"/>
            <a:ext cx="320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✓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68680" y="3108960"/>
            <a:ext cx="7863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DDDD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credit review tasks auto-created with correct due dates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274320" y="470916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CF360  ·  Built by Therence Ngoa  ·  May 2026  ·  BCEAO/CEMAC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CF360-PPT05-Credit-Memo-Approval-EN</dc:title>
  <dc:subject>PptxGenJS Presentation</dc:subject>
  <dc:creator>PptxGenJS</dc:creator>
  <cp:lastModifiedBy>PptxGenJS</cp:lastModifiedBy>
  <cp:revision>1</cp:revision>
  <dcterms:created xsi:type="dcterms:W3CDTF">2026-05-28T20:01:49Z</dcterms:created>
  <dcterms:modified xsi:type="dcterms:W3CDTF">2026-05-28T20:01:49Z</dcterms:modified>
</cp:coreProperties>
</file>