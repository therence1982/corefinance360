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F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D1F3C">
              <a:alpha val="12000"/>
            </a:srgbClr>
          </a:solidFill>
          <a:ln w="12700">
            <a:solidFill>
              <a:srgbClr val="0D1F3C">
                <a:alpha val="12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D1F3C"/>
          </a:solidFill>
          <a:ln w="12700">
            <a:solidFill>
              <a:srgbClr val="0D1F3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182880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1F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CF360  ·  Test 06 / 10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20040" y="594360"/>
            <a:ext cx="85039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Approbation Multi-Niveaux</a:t>
            </a:r>
            <a:endParaRPr lang="en-US" sz="3400" dirty="0"/>
          </a:p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Routage N1 → N2 → N3</a:t>
            </a:r>
            <a:endParaRPr lang="en-US" sz="3400" dirty="0"/>
          </a:p>
        </p:txBody>
      </p:sp>
      <p:sp>
        <p:nvSpPr>
          <p:cNvPr id="6" name="Shape 4"/>
          <p:cNvSpPr/>
          <p:nvPr/>
        </p:nvSpPr>
        <p:spPr>
          <a:xfrm>
            <a:off x="320040" y="1691640"/>
            <a:ext cx="1645920" cy="54864"/>
          </a:xfrm>
          <a:prstGeom prst="rect">
            <a:avLst/>
          </a:prstGeom>
          <a:solidFill>
            <a:srgbClr val="0D1F3C"/>
          </a:solidFill>
          <a:ln w="12700">
            <a:solidFill>
              <a:srgbClr val="0D1F3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1828800"/>
            <a:ext cx="8503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CDD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👤  CCS → DR (Kwame Asante) → DF (Fatima Diallo)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320040" y="2240280"/>
            <a:ext cx="8503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🌍  Kenya 🇰🇪  ·  💱  KES — Shilling Kényan  ·  🏦  Nairobi Trade Finance Ltd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20040" y="2606040"/>
            <a:ext cx="8503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Type de Prêt : Financement Commerce  ·  Montant : 1 200 000$  ·  Approbation : Niveau 2 → Niveau 3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solidFill>
            <a:srgbClr val="070F1E"/>
          </a:solidFill>
          <a:ln w="12700">
            <a:solidFill>
              <a:srgbClr val="070F1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74320" y="47091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CoreFinance360  ·  CF360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7772400" y="470916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 / 10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1F3C"/>
          </a:solidFill>
          <a:ln w="12700">
            <a:solidFill>
              <a:srgbClr val="0D1F3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73152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Pourquoi ce Deal Saute le Niveau 1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274320" y="530352"/>
            <a:ext cx="7772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DDD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Montant = 1,2M$ — au-dessus du seuil Niveau 1 de 500K$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solidFill>
            <a:srgbClr val="070F1E"/>
          </a:solidFill>
          <a:ln w="12700">
            <a:solidFill>
              <a:srgbClr val="070F1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47091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CoreFinance360  ·  CF360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7772400" y="470916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 / 10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28600" y="1051560"/>
            <a:ext cx="4160520" cy="33832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28600" y="1051560"/>
            <a:ext cx="64008" cy="3383280"/>
          </a:xfrm>
          <a:prstGeom prst="rect">
            <a:avLst/>
          </a:prstGeom>
          <a:solidFill>
            <a:srgbClr val="0D1F3C"/>
          </a:solidFill>
          <a:ln w="12700">
            <a:solidFill>
              <a:srgbClr val="0D1F3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5760" y="1143000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F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💰  Le Deal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65760" y="1481328"/>
            <a:ext cx="3931920" cy="2852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Nairobi Trade Finance Ltd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Kenya · KES · 1 200 000$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Financement Commerce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Montant : 1,2M$ — Indicateur Comité : Faux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Au-dessus de 500K$ → SAUTER Niveau 1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En-dessous de 2M$ → Aller au Niveau 2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Comité = Faux → Pas direct Niveau 3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Résultat : Route au Niveau 2 — DR Kwame Asante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4526280" y="1051560"/>
            <a:ext cx="4389120" cy="33832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526280" y="1051560"/>
            <a:ext cx="64008" cy="3383280"/>
          </a:xfrm>
          <a:prstGeom prst="rect">
            <a:avLst/>
          </a:prstGeom>
          <a:solidFill>
            <a:srgbClr val="0D1F3C"/>
          </a:solidFill>
          <a:ln w="12700">
            <a:solidFill>
              <a:srgbClr val="0D1F3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663440" y="1143000"/>
            <a:ext cx="4160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F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🎯  Ce que ce test prouve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663440" y="1481328"/>
            <a:ext cx="4160520" cy="2852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logique de routage automatique :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Niveau 1 SAUTÉ quand Montant &gt; 500K$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Route directement au Niveau 2 (DR)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Après N2 → route au Niveau 3 (DF)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Enregistrement reste VERROUILLÉ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Étape = Approuvé SEULEMENT après niveau final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Piste d'audit complète de tous les événements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1F3C"/>
          </a:solidFill>
          <a:ln w="12700">
            <a:solidFill>
              <a:srgbClr val="0D1F3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73152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Étape par Étape : Approbation Multi-Niveaux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274320" y="530352"/>
            <a:ext cx="7772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DDD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Kenya (KES) · 1 200 000$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solidFill>
            <a:srgbClr val="070F1E"/>
          </a:solidFill>
          <a:ln w="12700">
            <a:solidFill>
              <a:srgbClr val="070F1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47091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CoreFinance360  ·  CF360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7772400" y="470916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 / 10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28600" y="868680"/>
            <a:ext cx="384048" cy="347472"/>
          </a:xfrm>
          <a:prstGeom prst="rect">
            <a:avLst/>
          </a:prstGeom>
          <a:solidFill>
            <a:srgbClr val="0D1F3C"/>
          </a:solidFill>
          <a:ln w="12700">
            <a:solidFill>
              <a:srgbClr val="0D1F3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28600" y="868680"/>
            <a:ext cx="3840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85800" y="877824"/>
            <a:ext cx="3474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D1F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Tous prérequis remplis. Soumettre Dossier.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0D1F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Montant = 1 200 000, Indicateur Comité = Faux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4251960" y="905256"/>
            <a:ext cx="4389120" cy="274320"/>
          </a:xfrm>
          <a:prstGeom prst="rect">
            <a:avLst/>
          </a:prstGeom>
          <a:solidFill>
            <a:srgbClr val="DCFCE7"/>
          </a:solidFill>
          <a:ln w="12700">
            <a:solidFill>
              <a:srgbClr val="DCFCE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251960" y="905256"/>
            <a:ext cx="4389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453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Système évalue : &gt; 500K$ → SAUTER Niveau 1. Route au Niveau 2 — Kwame Asante (DR).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228600" y="1490472"/>
            <a:ext cx="384048" cy="347472"/>
          </a:xfrm>
          <a:prstGeom prst="rect">
            <a:avLst/>
          </a:prstGeom>
          <a:solidFill>
            <a:srgbClr val="0D1F3C"/>
          </a:solidFill>
          <a:ln w="12700">
            <a:solidFill>
              <a:srgbClr val="0D1F3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28600" y="1490472"/>
            <a:ext cx="3840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85800" y="1499616"/>
            <a:ext cx="3474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D1F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Kwame Asante (DR) ouvre la Demande d'Approbation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0D1F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Dossier verrouillé — lecture seule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4251960" y="1527048"/>
            <a:ext cx="4389120" cy="274320"/>
          </a:xfrm>
          <a:prstGeom prst="rect">
            <a:avLst/>
          </a:prstGeom>
          <a:solidFill>
            <a:srgbClr val="DCFCE7"/>
          </a:solidFill>
          <a:ln w="12700">
            <a:solidFill>
              <a:srgbClr val="DCFCE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251960" y="1527048"/>
            <a:ext cx="4389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453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Détails du deal visibles au Niveau 2.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228600" y="2112264"/>
            <a:ext cx="384048" cy="347472"/>
          </a:xfrm>
          <a:prstGeom prst="rect">
            <a:avLst/>
          </a:prstGeom>
          <a:solidFill>
            <a:srgbClr val="0D1F3C"/>
          </a:solidFill>
          <a:ln w="12700">
            <a:solidFill>
              <a:srgbClr val="0D1F3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28600" y="2112264"/>
            <a:ext cx="3840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85800" y="2121408"/>
            <a:ext cx="3474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D1F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Kwame clique Approuver avec commentaire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4251960" y="2148840"/>
            <a:ext cx="4389120" cy="274320"/>
          </a:xfrm>
          <a:prstGeom prst="rect">
            <a:avLst/>
          </a:prstGeom>
          <a:solidFill>
            <a:srgbClr val="DCFCE7"/>
          </a:solidFill>
          <a:ln w="12700">
            <a:solidFill>
              <a:srgbClr val="DCFCE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251960" y="2148840"/>
            <a:ext cx="4389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453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Niveau 2 approuvé. Route automatiquement au Niveau 3 — Fatima Diallo (DF).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228600" y="2734056"/>
            <a:ext cx="384048" cy="347472"/>
          </a:xfrm>
          <a:prstGeom prst="rect">
            <a:avLst/>
          </a:prstGeom>
          <a:solidFill>
            <a:srgbClr val="0D1F3C"/>
          </a:solidFill>
          <a:ln w="12700">
            <a:solidFill>
              <a:srgbClr val="0D1F3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28600" y="2734056"/>
            <a:ext cx="3840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685800" y="2743200"/>
            <a:ext cx="3474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D1F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Fatima Diallo (DF) ouvre la Demande d'Approbation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4251960" y="2770632"/>
            <a:ext cx="4389120" cy="274320"/>
          </a:xfrm>
          <a:prstGeom prst="rect">
            <a:avLst/>
          </a:prstGeom>
          <a:solidFill>
            <a:srgbClr val="DCFCE7"/>
          </a:solidFill>
          <a:ln w="12700">
            <a:solidFill>
              <a:srgbClr val="DCFCE7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251960" y="2770632"/>
            <a:ext cx="4389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453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Fatima voit le deal au Niveau 3 — autorité de signature finale.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228600" y="3355848"/>
            <a:ext cx="384048" cy="347472"/>
          </a:xfrm>
          <a:prstGeom prst="rect">
            <a:avLst/>
          </a:prstGeom>
          <a:solidFill>
            <a:srgbClr val="0D1F3C"/>
          </a:solidFill>
          <a:ln w="12700">
            <a:solidFill>
              <a:srgbClr val="0D1F3C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28600" y="3355848"/>
            <a:ext cx="3840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685800" y="3364992"/>
            <a:ext cx="3474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D1F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Fatima clique Approuver avec commentaire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4251960" y="3392424"/>
            <a:ext cx="4389120" cy="274320"/>
          </a:xfrm>
          <a:prstGeom prst="rect">
            <a:avLst/>
          </a:prstGeom>
          <a:solidFill>
            <a:srgbClr val="DCFCE7"/>
          </a:solidFill>
          <a:ln w="12700">
            <a:solidFill>
              <a:srgbClr val="DCFCE7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251960" y="3392424"/>
            <a:ext cx="4389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453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APPROBATION FINALE. Étape = Approuvé. Enregistrement se déverrouille. 2 tâches créées.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228600" y="3977640"/>
            <a:ext cx="384048" cy="347472"/>
          </a:xfrm>
          <a:prstGeom prst="rect">
            <a:avLst/>
          </a:prstGeom>
          <a:solidFill>
            <a:srgbClr val="0D1F3C"/>
          </a:solidFill>
          <a:ln w="12700">
            <a:solidFill>
              <a:srgbClr val="0D1F3C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28600" y="3977640"/>
            <a:ext cx="3840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685800" y="3986784"/>
            <a:ext cx="3474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D1F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Saisir Date Approbation + Date Expiration. Vérifier Journal d'Audit.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4251960" y="4014216"/>
            <a:ext cx="4389120" cy="274320"/>
          </a:xfrm>
          <a:prstGeom prst="rect">
            <a:avLst/>
          </a:prstGeom>
          <a:solidFill>
            <a:srgbClr val="DCFCE7"/>
          </a:solidFill>
          <a:ln w="12700">
            <a:solidFill>
              <a:srgbClr val="DCFCE7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251960" y="4014216"/>
            <a:ext cx="4389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453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Règles de validation passées. Journal affiche tous les événements avec horodatages.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1F3C"/>
          </a:solidFill>
          <a:ln w="12700">
            <a:solidFill>
              <a:srgbClr val="0D1F3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73152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Structure d'Approbation à 3 Niveaux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274320" y="530352"/>
            <a:ext cx="7772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DDD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Hiérarchie complète avec routage automatique selon montant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solidFill>
            <a:srgbClr val="070F1E"/>
          </a:solidFill>
          <a:ln w="12700">
            <a:solidFill>
              <a:srgbClr val="070F1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47091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CoreFinance360  ·  CF360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7772400" y="470916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 / 10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74320" y="1051560"/>
            <a:ext cx="269748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74320" y="1051560"/>
            <a:ext cx="2697480" cy="384048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74320" y="1051560"/>
            <a:ext cx="2697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NIVEAU 1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65760" y="1481328"/>
            <a:ext cx="2514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1F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Ngozi Adeyemi</a:t>
            </a:r>
            <a:endParaRPr lang="en-US" sz="1000" dirty="0"/>
          </a:p>
          <a:p>
            <a:pPr indent="0" marL="0">
              <a:buNone/>
            </a:pPr>
            <a:r>
              <a:rPr lang="en-US" sz="1000" b="1" dirty="0">
                <a:solidFill>
                  <a:srgbClr val="0D1F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Chargée de Crédit Sénior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365760" y="2029968"/>
            <a:ext cx="2514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≤ 500 000$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Indicateur Comité = Faux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65760" y="2743200"/>
            <a:ext cx="2514600" cy="347472"/>
          </a:xfrm>
          <a:prstGeom prst="rect">
            <a:avLst/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2743200"/>
            <a:ext cx="2514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99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SAUTÉ dans ce test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3154680" y="1051560"/>
            <a:ext cx="269748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154680" y="1051560"/>
            <a:ext cx="2697480" cy="384048"/>
          </a:xfrm>
          <a:prstGeom prst="rect">
            <a:avLst/>
          </a:prstGeom>
          <a:solidFill>
            <a:srgbClr val="0D1F3C"/>
          </a:solidFill>
          <a:ln w="12700">
            <a:solidFill>
              <a:srgbClr val="0D1F3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154680" y="1051560"/>
            <a:ext cx="2697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NIVEAU 2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3246120" y="1481328"/>
            <a:ext cx="2514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1F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Kwame Asante</a:t>
            </a:r>
            <a:endParaRPr lang="en-US" sz="1000" dirty="0"/>
          </a:p>
          <a:p>
            <a:pPr indent="0" marL="0">
              <a:buNone/>
            </a:pPr>
            <a:r>
              <a:rPr lang="en-US" sz="1000" b="1" dirty="0">
                <a:solidFill>
                  <a:srgbClr val="0D1F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Directeur des Risques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3246120" y="2029968"/>
            <a:ext cx="2514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500K$ – 2M$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Indicateur Comité = Faux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246120" y="2743200"/>
            <a:ext cx="2514600" cy="347472"/>
          </a:xfrm>
          <a:prstGeom prst="rect">
            <a:avLst/>
          </a:prstGeom>
          <a:solidFill>
            <a:srgbClr val="DCFCE7"/>
          </a:solidFill>
          <a:ln w="12700">
            <a:solidFill>
              <a:srgbClr val="DCFCE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246120" y="2743200"/>
            <a:ext cx="2514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453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Approuve (1,2M$)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6035040" y="1051560"/>
            <a:ext cx="269748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6035040" y="1051560"/>
            <a:ext cx="2697480" cy="384048"/>
          </a:xfrm>
          <a:prstGeom prst="rect">
            <a:avLst/>
          </a:prstGeom>
          <a:solidFill>
            <a:srgbClr val="1A56DB"/>
          </a:solidFill>
          <a:ln w="12700">
            <a:solidFill>
              <a:srgbClr val="1A56D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035040" y="1051560"/>
            <a:ext cx="2697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NIVEAU 3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126480" y="1481328"/>
            <a:ext cx="2514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1F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Fatima Diallo</a:t>
            </a:r>
            <a:endParaRPr lang="en-US" sz="1000" dirty="0"/>
          </a:p>
          <a:p>
            <a:pPr indent="0" marL="0">
              <a:buNone/>
            </a:pPr>
            <a:r>
              <a:rPr lang="en-US" sz="1000" b="1" dirty="0">
                <a:solidFill>
                  <a:srgbClr val="0D1F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Directrice Financière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6126480" y="2029968"/>
            <a:ext cx="2514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&gt; 2M$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 Comité = Vrai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6126480" y="2743200"/>
            <a:ext cx="2514600" cy="347472"/>
          </a:xfrm>
          <a:prstGeom prst="rect">
            <a:avLst/>
          </a:prstGeom>
          <a:solidFill>
            <a:srgbClr val="DCFCE7"/>
          </a:solidFill>
          <a:ln w="12700">
            <a:solidFill>
              <a:srgbClr val="DCFCE7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126480" y="2743200"/>
            <a:ext cx="2514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453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Approbation Finale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228600" y="3493008"/>
            <a:ext cx="8686800" cy="7315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228600" y="3493008"/>
            <a:ext cx="64008" cy="731520"/>
          </a:xfrm>
          <a:prstGeom prst="rect">
            <a:avLst/>
          </a:prstGeom>
          <a:solidFill>
            <a:srgbClr val="0D1F3C"/>
          </a:solidFill>
          <a:ln w="12700">
            <a:solidFill>
              <a:srgbClr val="0D1F3C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65760" y="3584448"/>
            <a:ext cx="8458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F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Indicateur Comité = Vrai contourne tout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365760" y="3922776"/>
            <a:ext cx="8458200" cy="2011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 Indicateur Comité est coché, le deal route DIRECTEMENT au Niveau 3 quelle que soit la taille — contournant N1 et N2. Testé dans PPT09.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F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D1F3C"/>
          </a:solidFill>
          <a:ln w="12700">
            <a:solidFill>
              <a:srgbClr val="0D1F3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0D1F3C"/>
          </a:solidFill>
          <a:ln w="12700">
            <a:solidFill>
              <a:srgbClr val="0D1F3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45720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Approbation Multi-Niveaux Routage N1 → N2 → N3 — Terminé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200400" y="1143000"/>
            <a:ext cx="2743200" cy="0"/>
          </a:xfrm>
          <a:prstGeom prst="line">
            <a:avLst/>
          </a:prstGeom>
          <a:noFill/>
          <a:ln w="25400">
            <a:solidFill>
              <a:srgbClr val="0D1F3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325880"/>
            <a:ext cx="320040" cy="320040"/>
          </a:xfrm>
          <a:prstGeom prst="rect">
            <a:avLst/>
          </a:prstGeom>
          <a:solidFill>
            <a:srgbClr val="0D1F3C"/>
          </a:solidFill>
          <a:ln w="12700">
            <a:solidFill>
              <a:srgbClr val="0D1F3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32588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68680" y="132588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DDD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Niveau 1 automatiquement SAUTÉ — 1,2M$ dépasse le seuil de 500K$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7200" y="1920240"/>
            <a:ext cx="320040" cy="320040"/>
          </a:xfrm>
          <a:prstGeom prst="rect">
            <a:avLst/>
          </a:prstGeom>
          <a:solidFill>
            <a:srgbClr val="0D1F3C"/>
          </a:solidFill>
          <a:ln w="12700">
            <a:solidFill>
              <a:srgbClr val="0D1F3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192024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868680" y="192024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DDD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Route directement au Niveau 2 — DR Kwame Asante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57200" y="2514600"/>
            <a:ext cx="320040" cy="320040"/>
          </a:xfrm>
          <a:prstGeom prst="rect">
            <a:avLst/>
          </a:prstGeom>
          <a:solidFill>
            <a:srgbClr val="0D1F3C"/>
          </a:solidFill>
          <a:ln w="12700">
            <a:solidFill>
              <a:srgbClr val="0D1F3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251460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868680" y="251460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DDD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Après approbation N2 → route au Niveau 3 — DF Fatima Diallo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57200" y="3108960"/>
            <a:ext cx="320040" cy="320040"/>
          </a:xfrm>
          <a:prstGeom prst="rect">
            <a:avLst/>
          </a:prstGeom>
          <a:solidFill>
            <a:srgbClr val="0D1F3C"/>
          </a:solidFill>
          <a:ln w="12700">
            <a:solidFill>
              <a:srgbClr val="0D1F3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7200" y="310896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868680" y="310896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DDD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Enregistrement verrouillé tout au long du processus d'approbation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57200" y="3703320"/>
            <a:ext cx="320040" cy="320040"/>
          </a:xfrm>
          <a:prstGeom prst="rect">
            <a:avLst/>
          </a:prstGeom>
          <a:solidFill>
            <a:srgbClr val="0D1F3C"/>
          </a:solidFill>
          <a:ln w="12700">
            <a:solidFill>
              <a:srgbClr val="0D1F3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7200" y="370332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868680" y="370332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DDD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Piste d'audit complète de chaque événement d'approbation avec horodatages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274320" y="47091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CF360  ·  Construit par Therence Ngoa  ·  Mai 2026  ·  BCEAO/CEMAC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CF360-PPT06-Approbation-Multi-Niveaux-FR</dc:title>
  <dc:subject>PptxGenJS Presentation</dc:subject>
  <dc:creator>PptxGenJS</dc:creator>
  <cp:lastModifiedBy>PptxGenJS</cp:lastModifiedBy>
  <cp:revision>1</cp:revision>
  <dcterms:created xsi:type="dcterms:W3CDTF">2026-05-28T20:07:08Z</dcterms:created>
  <dcterms:modified xsi:type="dcterms:W3CDTF">2026-05-28T20:07:08Z</dcterms:modified>
</cp:coreProperties>
</file>