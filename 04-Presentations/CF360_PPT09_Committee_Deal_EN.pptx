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34155">
              <a:alpha val="12000"/>
            </a:srgbClr>
          </a:solidFill>
          <a:ln w="12700">
            <a:solidFill>
              <a:srgbClr val="334155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828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CF360  ·  Test 09 / 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594360"/>
            <a:ext cx="8503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Committee Deal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Full Large Deal Lifecycle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320040" y="1691640"/>
            <a:ext cx="1645920" cy="5486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82880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 All Credit Roles in Sequence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" y="2240280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🌍  Congo 🇨🇬  ·  💱  XAF — CFA Franc BEAC  ·  🏦  Brazzaville Energy Holdings SARL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2606040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Loan Type: Construction Loan  ·  Amount: $3,200,000  ·  Approval: Level 3 Direct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70F1E"/>
          </a:solidFill>
          <a:ln w="12700">
            <a:solidFill>
              <a:srgbClr val="070F1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CoreFinance360  ·  CF360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72400" y="47091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Deal Goes Directly to Level 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53035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Committee Deal = True overrides the normal routing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70F1E"/>
          </a:solidFill>
          <a:ln w="12700">
            <a:solidFill>
              <a:srgbClr val="070F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CoreFinance360  ·  CF360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47091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1051560"/>
            <a:ext cx="416052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1051560"/>
            <a:ext cx="64008" cy="338328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1430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 The Deal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1481328"/>
            <a:ext cx="3931920" cy="2852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Brazzaville Energy Holdings SARL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Congo · XAF · $3,200,000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Construction Loan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Amount: $3.2M + Committee Deal = ✅ True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Committee Deal = True means: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SKIP Level 1 completely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SKIP Level 2 completely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Route DIRECTLY to Level 3 (CFO)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Note: Even $100K with Committee = True → Level 3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26280" y="1051560"/>
            <a:ext cx="438912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26280" y="1051560"/>
            <a:ext cx="64008" cy="338328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143000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 What this test proves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63440" y="1481328"/>
            <a:ext cx="4160520" cy="2852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Committee governance: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Committee flag bypasses all lower levels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CFO (Level 3) has final authority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Credit Committee Meeting records formal vote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Approval Percentage formula auto-calculates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Committee Deal Stamp Flow fires on resolution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Complete governance documented digitally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Step-by-Step: Committee Deal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53035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Congo (XAF) · $3,200,000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70F1E"/>
          </a:solidFill>
          <a:ln w="12700">
            <a:solidFill>
              <a:srgbClr val="070F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CoreFinance360  ·  CF360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47091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868680"/>
            <a:ext cx="384048" cy="34747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86868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87782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FP: Amount=3,200,000, Committee Deal=✅, all prerequisites met → Submit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251960" y="905256"/>
            <a:ext cx="4389120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51960" y="905256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Committee Deal = True → Routes DIRECTLY to Level 3 — Fatima Diallo (CFO). L1 and L2 bypassed.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28600" y="1490472"/>
            <a:ext cx="384048" cy="34747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" y="149047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149961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Fatima Diallo (CFO) reviews and approves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251960" y="1527048"/>
            <a:ext cx="4389120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51960" y="152704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Level 3 final approval. Stage = Approved. Approval Date + Expiry Date required.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28600" y="2112264"/>
            <a:ext cx="384048" cy="34747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" y="2112264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5800" y="212140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Credit Committee Meeting: Vote For=6, Against=1, Quorum=✅, Resolution=Approved → Save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251960" y="2148840"/>
            <a:ext cx="4389120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51960" y="214884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Approval Percentage auto-calculates: 85.7% (6/7 votes). Committee Deal Stamp Flow fires.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28600" y="2734056"/>
            <a:ext cx="384048" cy="34747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" y="273405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85800" y="274320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Financing Package shows committee stamp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251960" y="2770632"/>
            <a:ext cx="4389120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51960" y="277063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FP shows committee resolution from stamp flow. Deal fully documented.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28600" y="3355848"/>
            <a:ext cx="384048" cy="34747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8600" y="335584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85800" y="336499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Audit Log on Financing Package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251960" y="3392424"/>
            <a:ext cx="4389120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51960" y="3392424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Complete trail: every stage change, approval, committee vote — permanently recorded.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28600" y="3977640"/>
            <a:ext cx="384048" cy="34747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8600" y="397764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85800" y="398678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2 post-approval tasks auto-created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251960" y="4014216"/>
            <a:ext cx="4389120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251960" y="4014216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Prepare Loan Offer Letter (3d), Complete Documentation &amp; Booking (7d)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Committee Meeting — Digital Governance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53035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Formal voting record with auto-calculated approval percentage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70F1E"/>
          </a:solidFill>
          <a:ln w="12700">
            <a:solidFill>
              <a:srgbClr val="070F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CoreFinance360  ·  CF360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47091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1051560"/>
            <a:ext cx="8686800" cy="237744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1430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Meeting Date: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194560" y="11430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28, 2026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63440" y="11430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Financing Package: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92240" y="11430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Brazzaville Energy Holdings SARL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166420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Vote Count For: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194560" y="1664208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63440" y="166420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Vote Count Against: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92240" y="1664208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2185416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Abstentions: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194560" y="2185416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63440" y="2185416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Quorum Met: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92240" y="2185416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Yes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2706624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Percentage: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194560" y="2706624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85.7%  (auto-calculated by formula)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63440" y="2706624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92240" y="2706624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28600" y="3584448"/>
            <a:ext cx="86868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28600" y="3584448"/>
            <a:ext cx="64008" cy="6858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675888"/>
            <a:ext cx="8458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Committee Deal Stamp Flow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65760" y="4014216"/>
            <a:ext cx="8458200" cy="155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Resolution is set, Committee Deal Stamp Flow V1 fires automatically and stamps the Financing Package with the committee resolution. No manual update needed.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Committee Deal &amp; Full Large Deal Lifecycle — Complete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0" y="1143000"/>
            <a:ext cx="2743200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25880"/>
            <a:ext cx="320040" cy="3200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258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13258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Committee Deal = True routes DIRECTLY to Level 3 — bypasses L1 and L2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320040" cy="3200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920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19202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CFO has final approval authority for all committee deals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514600"/>
            <a:ext cx="320040" cy="3200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514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25146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Committee Meeting records formal vote digitally with quorum tracking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108960"/>
            <a:ext cx="320040" cy="3200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1089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68680" y="31089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Percentage formula calculates automatically (85.7% = 6 of 7 votes)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703320"/>
            <a:ext cx="320040" cy="3200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703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37033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governance trail — every decision permanently documented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7432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CF360  ·  Built by Therence Ngoa  ·  May 2026  ·  BCEAO/CEMAC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CF360-PPT09-Committee-Deal-EN</dc:title>
  <dc:subject>PptxGenJS Presentation</dc:subject>
  <dc:creator>PptxGenJS</dc:creator>
  <cp:lastModifiedBy>PptxGenJS</cp:lastModifiedBy>
  <cp:revision>1</cp:revision>
  <dcterms:created xsi:type="dcterms:W3CDTF">2026-05-28T20:01:49Z</dcterms:created>
  <dcterms:modified xsi:type="dcterms:W3CDTF">2026-05-28T20:01:49Z</dcterms:modified>
</cp:coreProperties>
</file>