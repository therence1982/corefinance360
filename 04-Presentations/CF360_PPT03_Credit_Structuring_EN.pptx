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8920A">
              <a:alpha val="12000"/>
            </a:srgbClr>
          </a:solidFill>
          <a:ln w="12700">
            <a:solidFill>
              <a:srgbClr val="C8920A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2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CF360  ·  Test 03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Structuring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Deal Setup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1645920" cy="54864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8288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Credit Officer — Wanjiru Kamau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224028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 Cameroon 🇨🇲  ·  💱  XAF — CFA Franc BEAC  ·  🏦  Mvondo Construction SARL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60604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Type: Government Contract Financing  ·  Amount: $350,000  ·  Approval: Level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Credit Officer's Role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Structuring the deal after the Financing Package is created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41605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051560"/>
            <a:ext cx="64008" cy="3383280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43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🏦  What the Credit Officer Does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481328"/>
            <a:ext cx="393192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RM gets Opportunity to Approved — Credit Officer takes over.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create: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Credit Facility (loan product + rate)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Collateral (security pledged)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Covenants (ongoing compliance)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Ensure all documents in order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advance to Underwriting.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26280" y="1051560"/>
            <a:ext cx="43891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1051560"/>
            <a:ext cx="64008" cy="3383280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14300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Mvondo Construction — Deal Profile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1481328"/>
            <a:ext cx="416052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Cameroon · XAF · $350,000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Loan Type: Government Contract Financing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Interest Rate: 9.00% (filtered by Loan Type)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Repayment: Quarterly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Maturity: 24 months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Collateral: Real Estate — $700K · LTV%: 50%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Covenant: Min. cash balance $50K quarterly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Approval Level: Level 1 (≤$500K)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Step-by-Step: Credit Structuring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Officer — Cameroon (XAF)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68680"/>
            <a:ext cx="384048" cy="347472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8686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87782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to advance FP to Underwriting → Save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51960" y="905256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90525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BLOCKED: A Credit Facility must be created and linked first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" y="1490472"/>
            <a:ext cx="384048" cy="347472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4904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14996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Credit Facility: Loan Type = Gov. Contract Financing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Interest Rate picklist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51960" y="1527048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15270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Rate picklist filters automatically — only 7.00 to 12.00 rates shown for this loan type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8600" y="2112264"/>
            <a:ext cx="384048" cy="347472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1122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21214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Enter: Amount=350,000, Rate=9.00, Quarterly, 24 months → Save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51960" y="2148840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21488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CF saves. Currency = XAF auto-set from Financing Package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2734056"/>
            <a:ext cx="384048" cy="347472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273405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27432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Collateral: Real Estate, Value=700,000, First Lien → Save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51960" y="2770632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51960" y="27706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LTV% auto-calculates: 50% (350,000 ÷ 700,000). Currency = XAF auto-set.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3355848"/>
            <a:ext cx="384048" cy="347472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33558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33649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Covenant: Financial, Threshold=50,000, Quarterly → Save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251960" y="3392424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51960" y="339242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Covenant saved. Real-time breach detection now active on this covenant.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28600" y="3977640"/>
            <a:ext cx="384048" cy="347472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39776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5800" y="39867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 FP Stage to Underwriting → Save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251960" y="4014216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51960" y="401421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3 tasks auto-created: Facility Setup (3d), Financial Analysis (5d), Report (7d). Email alert sent.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 Rate Field Dependency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Type controls which rates are available — 34 values total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Type = Government Contract Financing  →  Interest Rate shows: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08760"/>
            <a:ext cx="1280160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508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91640" y="1508760"/>
            <a:ext cx="1280160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1640" y="1508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7.50%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08960" y="1508760"/>
            <a:ext cx="1280160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1508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8.00%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26280" y="1508760"/>
            <a:ext cx="1280160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1508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8.50%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1508760"/>
            <a:ext cx="1280160" cy="365760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1508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9.00%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60920" y="1508760"/>
            <a:ext cx="1280160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1508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1993392"/>
            <a:ext cx="1280160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19933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10.00%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691640" y="1993392"/>
            <a:ext cx="1280160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91640" y="19933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10.50%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08960" y="1993392"/>
            <a:ext cx="1280160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0" y="19933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11.00%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26280" y="1993392"/>
            <a:ext cx="1280160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19933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11.50%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43600" y="1993392"/>
            <a:ext cx="1280160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19933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28600" y="2542032"/>
            <a:ext cx="86868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28600" y="2542032"/>
            <a:ext cx="64008" cy="1645920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2633472"/>
            <a:ext cx="8458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field dependency matters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2971800"/>
            <a:ext cx="845820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dependency, a banker could accidentally assign a 24% microfinance rate to a government contract deal — or a 6% mortgage rate to a high-risk working capital loan. The dependency ensures every banker selects from the approved rate bracket for their specific loan type.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Structuring &amp; Deal Setup — Complete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1143000"/>
            <a:ext cx="2743200" cy="0"/>
          </a:xfrm>
          <a:prstGeom prst="line">
            <a:avLst/>
          </a:prstGeom>
          <a:noFill/>
          <a:ln w="25400">
            <a:solidFill>
              <a:srgbClr val="C8920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320040" cy="320040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gate enforced — no Underwriting without Credit Facility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920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 Rate field dependency prevents wrong rate selection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320040" cy="320040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514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LTV% auto-calculates from Collateral value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108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Currency cascade: XAF auto-set on Credit Facility and Collateral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320040" cy="320040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703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underwriting tasks auto-created with correct due dates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CF360  ·  Built by Therence Ngoa  ·  May 2026  ·  BCEAO/CEMAC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CF360-PPT03-Credit-Structuring-EN</dc:title>
  <dc:subject>PptxGenJS Presentation</dc:subject>
  <dc:creator>PptxGenJS</dc:creator>
  <cp:lastModifiedBy>PptxGenJS</cp:lastModifiedBy>
  <cp:revision>1</cp:revision>
  <dcterms:created xsi:type="dcterms:W3CDTF">2026-05-28T20:01:49Z</dcterms:created>
  <dcterms:modified xsi:type="dcterms:W3CDTF">2026-05-28T20:01:49Z</dcterms:modified>
</cp:coreProperties>
</file>